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73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04512-C648-4CA2-8D94-ECCB65153BDE}" type="datetimeFigureOut">
              <a:rPr lang="es-VE" smtClean="0"/>
              <a:t>4/4/2026</a:t>
            </a:fld>
            <a:endParaRPr lang="es-V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47E91-33B6-4B9E-90ED-12ECE4D2364C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6184991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04512-C648-4CA2-8D94-ECCB65153BDE}" type="datetimeFigureOut">
              <a:rPr lang="es-VE" smtClean="0"/>
              <a:t>4/4/2026</a:t>
            </a:fld>
            <a:endParaRPr lang="es-V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47E91-33B6-4B9E-90ED-12ECE4D2364C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5062502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04512-C648-4CA2-8D94-ECCB65153BDE}" type="datetimeFigureOut">
              <a:rPr lang="es-VE" smtClean="0"/>
              <a:t>4/4/2026</a:t>
            </a:fld>
            <a:endParaRPr lang="es-V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47E91-33B6-4B9E-90ED-12ECE4D2364C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9395442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04512-C648-4CA2-8D94-ECCB65153BDE}" type="datetimeFigureOut">
              <a:rPr lang="es-VE" smtClean="0"/>
              <a:t>4/4/2026</a:t>
            </a:fld>
            <a:endParaRPr lang="es-V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47E91-33B6-4B9E-90ED-12ECE4D2364C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042797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04512-C648-4CA2-8D94-ECCB65153BDE}" type="datetimeFigureOut">
              <a:rPr lang="es-VE" smtClean="0"/>
              <a:t>4/4/2026</a:t>
            </a:fld>
            <a:endParaRPr lang="es-V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47E91-33B6-4B9E-90ED-12ECE4D2364C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077954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04512-C648-4CA2-8D94-ECCB65153BDE}" type="datetimeFigureOut">
              <a:rPr lang="es-VE" smtClean="0"/>
              <a:t>4/4/2026</a:t>
            </a:fld>
            <a:endParaRPr lang="es-V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47E91-33B6-4B9E-90ED-12ECE4D2364C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42117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04512-C648-4CA2-8D94-ECCB65153BDE}" type="datetimeFigureOut">
              <a:rPr lang="es-VE" smtClean="0"/>
              <a:t>4/4/2026</a:t>
            </a:fld>
            <a:endParaRPr lang="es-V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47E91-33B6-4B9E-90ED-12ECE4D2364C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25828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04512-C648-4CA2-8D94-ECCB65153BDE}" type="datetimeFigureOut">
              <a:rPr lang="es-VE" smtClean="0"/>
              <a:t>4/4/2026</a:t>
            </a:fld>
            <a:endParaRPr lang="es-V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47E91-33B6-4B9E-90ED-12ECE4D2364C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4072309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47E91-33B6-4B9E-90ED-12ECE4D2364C}" type="slidenum">
              <a:rPr lang="es-VE" smtClean="0"/>
              <a:t>‹Nº›</a:t>
            </a:fld>
            <a:endParaRPr lang="es-V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04512-C648-4CA2-8D94-ECCB65153BDE}" type="datetimeFigureOut">
              <a:rPr lang="es-VE" smtClean="0"/>
              <a:t>4/4/2026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1107654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04512-C648-4CA2-8D94-ECCB65153BDE}" type="datetimeFigureOut">
              <a:rPr lang="es-VE" smtClean="0"/>
              <a:t>4/4/2026</a:t>
            </a:fld>
            <a:endParaRPr lang="es-V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47E91-33B6-4B9E-90ED-12ECE4D2364C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3985671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04512-C648-4CA2-8D94-ECCB65153BDE}" type="datetimeFigureOut">
              <a:rPr lang="es-VE" smtClean="0"/>
              <a:t>4/4/2026</a:t>
            </a:fld>
            <a:endParaRPr lang="es-V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47E91-33B6-4B9E-90ED-12ECE4D2364C}" type="slidenum">
              <a:rPr lang="es-VE" smtClean="0"/>
              <a:t>‹Nº›</a:t>
            </a:fld>
            <a:endParaRPr lang="es-VE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926527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04512-C648-4CA2-8D94-ECCB65153BDE}" type="datetimeFigureOut">
              <a:rPr lang="es-VE" smtClean="0"/>
              <a:t>4/4/2026</a:t>
            </a:fld>
            <a:endParaRPr lang="es-V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47E91-33B6-4B9E-90ED-12ECE4D2364C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8452058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04512-C648-4CA2-8D94-ECCB65153BDE}" type="datetimeFigureOut">
              <a:rPr lang="es-VE" smtClean="0"/>
              <a:t>4/4/2026</a:t>
            </a:fld>
            <a:endParaRPr lang="es-V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47E91-33B6-4B9E-90ED-12ECE4D2364C}" type="slidenum">
              <a:rPr lang="es-VE" smtClean="0"/>
              <a:t>‹Nº›</a:t>
            </a:fld>
            <a:endParaRPr lang="es-VE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450576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04512-C648-4CA2-8D94-ECCB65153BDE}" type="datetimeFigureOut">
              <a:rPr lang="es-VE" smtClean="0"/>
              <a:t>4/4/2026</a:t>
            </a:fld>
            <a:endParaRPr lang="es-V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47E91-33B6-4B9E-90ED-12ECE4D2364C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9774734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04512-C648-4CA2-8D94-ECCB65153BDE}" type="datetimeFigureOut">
              <a:rPr lang="es-VE" smtClean="0"/>
              <a:t>4/4/2026</a:t>
            </a:fld>
            <a:endParaRPr lang="es-V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47E91-33B6-4B9E-90ED-12ECE4D2364C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1059086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04512-C648-4CA2-8D94-ECCB65153BDE}" type="datetimeFigureOut">
              <a:rPr lang="es-VE" smtClean="0"/>
              <a:t>4/4/2026</a:t>
            </a:fld>
            <a:endParaRPr lang="es-V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47E91-33B6-4B9E-90ED-12ECE4D2364C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894228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D04512-C648-4CA2-8D94-ECCB65153BDE}" type="datetimeFigureOut">
              <a:rPr lang="es-VE" smtClean="0"/>
              <a:t>4/4/2026</a:t>
            </a:fld>
            <a:endParaRPr lang="es-V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V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E747E91-33B6-4B9E-90ED-12ECE4D2364C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4165633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E1B2F8-484F-8EDE-C528-A0AAECD71C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6122" y="2404531"/>
            <a:ext cx="7766936" cy="1646302"/>
          </a:xfrm>
        </p:spPr>
        <p:txBody>
          <a:bodyPr>
            <a:normAutofit fontScale="90000"/>
          </a:bodyPr>
          <a:lstStyle/>
          <a:p>
            <a:r>
              <a:rPr lang="es-VE" dirty="0">
                <a:solidFill>
                  <a:schemeClr val="tx1"/>
                </a:solidFill>
              </a:rPr>
              <a:t>Simulador</a:t>
            </a:r>
            <a:r>
              <a:rPr lang="es-VE" dirty="0"/>
              <a:t> </a:t>
            </a:r>
            <a:r>
              <a:rPr lang="es-VE" dirty="0">
                <a:solidFill>
                  <a:schemeClr val="tx1"/>
                </a:solidFill>
              </a:rPr>
              <a:t>de Cache</a:t>
            </a:r>
            <a:br>
              <a:rPr lang="es-VE" dirty="0">
                <a:solidFill>
                  <a:schemeClr val="tx1"/>
                </a:solidFill>
              </a:rPr>
            </a:br>
            <a:r>
              <a:rPr lang="es-VE" dirty="0">
                <a:solidFill>
                  <a:schemeClr val="tx1"/>
                </a:solidFill>
              </a:rPr>
              <a:t>Correspondencia directa y Asociativa por vías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634215A-96C8-D8F4-727E-631687767F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6122" y="4050833"/>
            <a:ext cx="7766936" cy="1096899"/>
          </a:xfrm>
        </p:spPr>
        <p:txBody>
          <a:bodyPr/>
          <a:lstStyle/>
          <a:p>
            <a:r>
              <a:rPr lang="es-VE" dirty="0">
                <a:solidFill>
                  <a:schemeClr val="tx1"/>
                </a:solidFill>
              </a:rPr>
              <a:t>Análisis de Rendimiento y Comparativa de Configuraciones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624276B-D139-9878-70D5-865E8A0EAA27}"/>
              </a:ext>
            </a:extLst>
          </p:cNvPr>
          <p:cNvSpPr txBox="1"/>
          <p:nvPr/>
        </p:nvSpPr>
        <p:spPr>
          <a:xfrm>
            <a:off x="309716" y="5029201"/>
            <a:ext cx="40410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VE" dirty="0"/>
              <a:t>Integrantes:</a:t>
            </a:r>
          </a:p>
          <a:p>
            <a:r>
              <a:rPr lang="es-VE" dirty="0"/>
              <a:t>Abraham Quintero, CI: 30.958.868</a:t>
            </a:r>
          </a:p>
          <a:p>
            <a:r>
              <a:rPr lang="es-VE" dirty="0"/>
              <a:t>Alessandro Ocanto, CI: 31.467.550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1ED8E42-F30D-8DFB-DBD2-54F17810FEFD}"/>
              </a:ext>
            </a:extLst>
          </p:cNvPr>
          <p:cNvSpPr txBox="1"/>
          <p:nvPr/>
        </p:nvSpPr>
        <p:spPr>
          <a:xfrm>
            <a:off x="5554309" y="5147732"/>
            <a:ext cx="35487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VE" dirty="0"/>
              <a:t>Asignatura: </a:t>
            </a:r>
          </a:p>
          <a:p>
            <a:r>
              <a:rPr lang="es-VE" dirty="0"/>
              <a:t>Arquitectura del Computador</a:t>
            </a:r>
          </a:p>
        </p:txBody>
      </p:sp>
    </p:spTree>
    <p:extLst>
      <p:ext uri="{BB962C8B-B14F-4D97-AF65-F5344CB8AC3E}">
        <p14:creationId xmlns:p14="http://schemas.microsoft.com/office/powerpoint/2010/main" val="34455541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B37E58-AFFD-0C11-7DED-AB5D174EA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VE" dirty="0">
                <a:solidFill>
                  <a:schemeClr val="tx1"/>
                </a:solidFill>
              </a:rPr>
              <a:t>Introducción y Motivación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18979CF-799A-C1BE-6A06-34C8152C00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r>
              <a:rPr lang="es-VE" dirty="0"/>
              <a:t>El Problema: Existe una brecha creciente entre la velocidad del procesador </a:t>
            </a:r>
            <a:r>
              <a:rPr lang="es-ES" dirty="0"/>
              <a:t>y la latencia de la memoria DRAM.</a:t>
            </a:r>
          </a:p>
          <a:p>
            <a:endParaRPr lang="es-ES" dirty="0"/>
          </a:p>
          <a:p>
            <a:pPr>
              <a:buClr>
                <a:schemeClr val="tx1"/>
              </a:buClr>
            </a:pPr>
            <a:r>
              <a:rPr lang="es-ES" b="1" dirty="0"/>
              <a:t>Importancia:</a:t>
            </a:r>
            <a:r>
              <a:rPr lang="es-ES" dirty="0"/>
              <a:t> Sin una caché eficiente, los procesadores modernos perderían la mayor parte del tiempo esperando datos de la memoria principal.</a:t>
            </a:r>
          </a:p>
          <a:p>
            <a:endParaRPr lang="es-ES" dirty="0"/>
          </a:p>
          <a:p>
            <a:pPr>
              <a:buClr>
                <a:schemeClr val="tx1"/>
              </a:buClr>
            </a:pPr>
            <a:r>
              <a:rPr lang="es-ES" b="1" dirty="0"/>
              <a:t>Evolución:</a:t>
            </a:r>
            <a:r>
              <a:rPr lang="es-ES" dirty="0"/>
              <a:t> Mientras que un Intel 80386 (1985) operaba a 16 MHz, un AMD Ryzen 9 (2024) alcanza los 5.7 GHz, acentuando la necesidad de jerarquías de memoria optimizadas.</a:t>
            </a:r>
            <a:endParaRPr lang="es-VE" dirty="0"/>
          </a:p>
        </p:txBody>
      </p:sp>
    </p:spTree>
    <p:extLst>
      <p:ext uri="{BB962C8B-B14F-4D97-AF65-F5344CB8AC3E}">
        <p14:creationId xmlns:p14="http://schemas.microsoft.com/office/powerpoint/2010/main" val="3362350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D84571-B0DE-800C-72DA-576FFEAEC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VE" dirty="0">
                <a:solidFill>
                  <a:schemeClr val="tx1"/>
                </a:solidFill>
              </a:rPr>
              <a:t>Objetivos del </a:t>
            </a:r>
            <a:r>
              <a:rPr lang="es-VE" dirty="0" err="1">
                <a:solidFill>
                  <a:schemeClr val="tx1"/>
                </a:solidFill>
              </a:rPr>
              <a:t>Projecto</a:t>
            </a:r>
            <a:endParaRPr lang="es-VE" dirty="0">
              <a:solidFill>
                <a:schemeClr val="tx1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7D66738-19EC-1FC6-0E70-21608D1436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tx1"/>
              </a:buClr>
              <a:buFont typeface="+mj-lt"/>
              <a:buAutoNum type="arabicPeriod"/>
            </a:pPr>
            <a:r>
              <a:rPr lang="es-ES" b="1" dirty="0"/>
              <a:t>Desarrollar</a:t>
            </a:r>
            <a:r>
              <a:rPr lang="es-ES" dirty="0"/>
              <a:t> un simulador de caché configurable (asociatividad, tamaño de bloque).</a:t>
            </a:r>
          </a:p>
          <a:p>
            <a:pPr>
              <a:buClr>
                <a:schemeClr val="tx1"/>
              </a:buClr>
              <a:buFont typeface="+mj-lt"/>
              <a:buAutoNum type="arabicPeriod"/>
            </a:pPr>
            <a:r>
              <a:rPr lang="es-ES" b="1" dirty="0"/>
              <a:t>Analizar</a:t>
            </a:r>
            <a:r>
              <a:rPr lang="es-ES" dirty="0"/>
              <a:t> el impacto del mapeo directo frente al asociativo.</a:t>
            </a:r>
          </a:p>
          <a:p>
            <a:pPr>
              <a:buClr>
                <a:schemeClr val="tx1"/>
              </a:buClr>
              <a:buFont typeface="+mj-lt"/>
              <a:buAutoNum type="arabicPeriod"/>
            </a:pPr>
            <a:r>
              <a:rPr lang="es-ES" b="1" dirty="0"/>
              <a:t>Evaluar</a:t>
            </a:r>
            <a:r>
              <a:rPr lang="es-ES" dirty="0"/>
              <a:t> la técnica de </a:t>
            </a:r>
            <a:r>
              <a:rPr lang="es-ES" i="1" dirty="0" err="1"/>
              <a:t>prefetching</a:t>
            </a:r>
            <a:r>
              <a:rPr lang="es-ES" dirty="0"/>
              <a:t> en accesos secuenciales.</a:t>
            </a:r>
          </a:p>
          <a:p>
            <a:pPr>
              <a:buClr>
                <a:schemeClr val="tx1"/>
              </a:buClr>
              <a:buFont typeface="+mj-lt"/>
              <a:buAutoNum type="arabicPeriod"/>
            </a:pPr>
            <a:r>
              <a:rPr lang="es-ES" b="1" dirty="0"/>
              <a:t>Comparar</a:t>
            </a:r>
            <a:r>
              <a:rPr lang="es-ES" dirty="0"/>
              <a:t> cuantitativamente las tasas de aciertos (</a:t>
            </a:r>
            <a:r>
              <a:rPr lang="es-ES" i="1" dirty="0"/>
              <a:t>hit </a:t>
            </a:r>
            <a:r>
              <a:rPr lang="es-ES" i="1" dirty="0" err="1"/>
              <a:t>rate</a:t>
            </a:r>
            <a:r>
              <a:rPr lang="es-ES" dirty="0"/>
              <a:t>) y fallos.</a:t>
            </a:r>
          </a:p>
          <a:p>
            <a:pPr>
              <a:buClr>
                <a:schemeClr val="tx1"/>
              </a:buClr>
              <a:buFont typeface="+mj-lt"/>
              <a:buAutoNum type="arabicPeriod"/>
            </a:pPr>
            <a:r>
              <a:rPr lang="es-ES" b="1" dirty="0"/>
              <a:t>Demostrar</a:t>
            </a:r>
            <a:r>
              <a:rPr lang="es-ES" dirty="0"/>
              <a:t> los principios de localidad espacial y temporal.</a:t>
            </a:r>
            <a:endParaRPr lang="es-VE" dirty="0"/>
          </a:p>
        </p:txBody>
      </p:sp>
    </p:spTree>
    <p:extLst>
      <p:ext uri="{BB962C8B-B14F-4D97-AF65-F5344CB8AC3E}">
        <p14:creationId xmlns:p14="http://schemas.microsoft.com/office/powerpoint/2010/main" val="30273307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00CCAE-96D9-15BB-B3FC-A456F372C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VE" dirty="0">
                <a:solidFill>
                  <a:schemeClr val="tx1"/>
                </a:solidFill>
              </a:rPr>
              <a:t>Fundamentos Teóricos (I)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D4AB2F5-B793-A518-D5EC-894F84EF59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r>
              <a:rPr lang="es-ES" b="1" dirty="0"/>
              <a:t>Principio de Localidad:</a:t>
            </a:r>
            <a:r>
              <a:rPr lang="es-ES" dirty="0"/>
              <a:t> Los programas acceden a una parte pequeña del espacio de direcciones en un instante dado.</a:t>
            </a:r>
          </a:p>
          <a:p>
            <a:pPr lvl="1">
              <a:buClr>
                <a:schemeClr val="tx1"/>
              </a:buClr>
            </a:pPr>
            <a:r>
              <a:rPr lang="es-ES" b="1" dirty="0"/>
              <a:t>Temporal:</a:t>
            </a:r>
            <a:r>
              <a:rPr lang="es-ES" dirty="0"/>
              <a:t> Si se accede a una dirección, es probable reusarla pronto (ej. bucles, contadores).</a:t>
            </a:r>
          </a:p>
          <a:p>
            <a:pPr lvl="1">
              <a:buClr>
                <a:schemeClr val="tx1"/>
              </a:buClr>
            </a:pPr>
            <a:r>
              <a:rPr lang="es-ES" b="1" dirty="0"/>
              <a:t>Espacial:</a:t>
            </a:r>
            <a:r>
              <a:rPr lang="es-ES" dirty="0"/>
              <a:t> Si se accede a una dirección, es probable acceder a las cercanas (ej. </a:t>
            </a:r>
            <a:r>
              <a:rPr lang="es-ES" dirty="0" err="1"/>
              <a:t>arrays</a:t>
            </a:r>
            <a:r>
              <a:rPr lang="es-ES" dirty="0"/>
              <a:t>, código lineal).</a:t>
            </a:r>
          </a:p>
          <a:p>
            <a:pPr lvl="1">
              <a:buClr>
                <a:schemeClr val="tx1"/>
              </a:buClr>
            </a:pPr>
            <a:r>
              <a:rPr lang="es-ES" b="1" dirty="0"/>
              <a:t>Jerarquía de Memoria:</a:t>
            </a:r>
            <a:r>
              <a:rPr lang="es-ES" dirty="0"/>
              <a:t> Desde registros (0.3 </a:t>
            </a:r>
            <a:r>
              <a:rPr lang="es-ES" dirty="0" err="1"/>
              <a:t>ns</a:t>
            </a:r>
            <a:r>
              <a:rPr lang="es-ES" dirty="0"/>
              <a:t>) hasta disco (10 ms), buscando la ilusión de una memoria grande y rápida.</a:t>
            </a:r>
          </a:p>
          <a:p>
            <a:pPr>
              <a:buClr>
                <a:schemeClr val="tx1"/>
              </a:buClr>
            </a:pPr>
            <a:r>
              <a:rPr lang="es-ES" b="1" dirty="0"/>
              <a:t>Jerarquía de Memoria:</a:t>
            </a:r>
            <a:r>
              <a:rPr lang="es-ES" dirty="0"/>
              <a:t> Desde registros (0.3 </a:t>
            </a:r>
            <a:r>
              <a:rPr lang="es-ES" dirty="0" err="1"/>
              <a:t>ns</a:t>
            </a:r>
            <a:r>
              <a:rPr lang="es-ES" dirty="0"/>
              <a:t>) hasta disco (10 ms), buscando la ilusión de una memoria grande y rápida.</a:t>
            </a:r>
          </a:p>
        </p:txBody>
      </p:sp>
    </p:spTree>
    <p:extLst>
      <p:ext uri="{BB962C8B-B14F-4D97-AF65-F5344CB8AC3E}">
        <p14:creationId xmlns:p14="http://schemas.microsoft.com/office/powerpoint/2010/main" val="3370476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8E983B-C55B-58EE-B85C-EC48493D8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VE" dirty="0">
                <a:solidFill>
                  <a:schemeClr val="tx1"/>
                </a:solidFill>
              </a:rPr>
              <a:t>Fundamentos Teóricos (II)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67DF93E-8CE7-B0D6-A08A-3F6F2EBE75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4294802"/>
          </a:xfrm>
        </p:spPr>
        <p:txBody>
          <a:bodyPr/>
          <a:lstStyle/>
          <a:p>
            <a:pPr>
              <a:buClr>
                <a:schemeClr val="tx1"/>
              </a:buClr>
            </a:pPr>
            <a:r>
              <a:rPr lang="es-VE" dirty="0"/>
              <a:t>Organización de la Caché:</a:t>
            </a:r>
          </a:p>
          <a:p>
            <a:pPr lvl="1">
              <a:buClr>
                <a:schemeClr val="tx1"/>
              </a:buClr>
            </a:pPr>
            <a:r>
              <a:rPr lang="es-ES" b="1" dirty="0"/>
              <a:t>Correspondencia Directa:</a:t>
            </a:r>
            <a:r>
              <a:rPr lang="es-ES" dirty="0"/>
              <a:t> Cada bloque tiene una única ubicación fija. Simple pero propensa a conflictos.</a:t>
            </a:r>
            <a:endParaRPr lang="es-VE" dirty="0"/>
          </a:p>
          <a:p>
            <a:pPr lvl="1">
              <a:buClr>
                <a:schemeClr val="tx1"/>
              </a:buClr>
            </a:pPr>
            <a:r>
              <a:rPr lang="es-ES" b="1" dirty="0"/>
              <a:t>Asociativa por Conjuntos:</a:t>
            </a:r>
            <a:r>
              <a:rPr lang="es-ES" dirty="0"/>
              <a:t> Un bloque puede ir en cualquiera de las </a:t>
            </a:r>
            <a:r>
              <a:rPr lang="es-ES" dirty="0">
                <a:effectLst/>
              </a:rPr>
              <a:t>N</a:t>
            </a:r>
            <a:r>
              <a:rPr lang="es-ES" dirty="0"/>
              <a:t> vías de un conjunto. Reduce fallos de conflicto pero aumenta complejidad.</a:t>
            </a:r>
          </a:p>
          <a:p>
            <a:pPr lvl="1">
              <a:buClr>
                <a:schemeClr val="tx1"/>
              </a:buClr>
            </a:pPr>
            <a:endParaRPr lang="es-VE" dirty="0"/>
          </a:p>
          <a:p>
            <a:pPr>
              <a:buClr>
                <a:schemeClr val="tx1"/>
              </a:buClr>
            </a:pPr>
            <a:r>
              <a:rPr lang="es-ES" dirty="0"/>
              <a:t>Modelo de las 3 Cs (Fallos):</a:t>
            </a:r>
          </a:p>
          <a:p>
            <a:pPr marL="800100" lvl="1" indent="-342900">
              <a:buClr>
                <a:schemeClr val="tx1"/>
              </a:buClr>
              <a:buFont typeface="+mj-lt"/>
              <a:buAutoNum type="arabicPeriod"/>
            </a:pPr>
            <a:r>
              <a:rPr lang="es-ES" b="1" dirty="0"/>
              <a:t>Compulsorios:</a:t>
            </a:r>
            <a:r>
              <a:rPr lang="es-ES" dirty="0"/>
              <a:t> Primer acceso al bloque.</a:t>
            </a:r>
          </a:p>
          <a:p>
            <a:pPr marL="800100" lvl="1" indent="-342900">
              <a:buClr>
                <a:schemeClr val="tx1"/>
              </a:buClr>
              <a:buFont typeface="+mj-lt"/>
              <a:buAutoNum type="arabicPeriod"/>
            </a:pPr>
            <a:r>
              <a:rPr lang="es-ES" b="1" dirty="0"/>
              <a:t>Capacidad: </a:t>
            </a:r>
            <a:r>
              <a:rPr lang="es-ES" dirty="0"/>
              <a:t>La caché es muy pequeña para el conjunto de trabajo.</a:t>
            </a:r>
          </a:p>
          <a:p>
            <a:pPr marL="800100" lvl="1" indent="-342900">
              <a:buClr>
                <a:schemeClr val="tx1"/>
              </a:buClr>
              <a:buFont typeface="+mj-lt"/>
              <a:buAutoNum type="arabicPeriod"/>
            </a:pPr>
            <a:r>
              <a:rPr lang="es-ES" b="1" dirty="0"/>
              <a:t>Conflicto: </a:t>
            </a:r>
            <a:r>
              <a:rPr lang="es-ES" dirty="0"/>
              <a:t>Múltiples bloques compiten por el mismo índice.</a:t>
            </a:r>
            <a:endParaRPr lang="es-ES" b="1" dirty="0"/>
          </a:p>
          <a:p>
            <a:pPr marL="800100" lvl="1" indent="-342900">
              <a:buClr>
                <a:schemeClr val="tx1"/>
              </a:buClr>
              <a:buFont typeface="+mj-lt"/>
              <a:buAutoNum type="arabicPeriod"/>
            </a:pPr>
            <a:endParaRPr lang="es-VE" dirty="0"/>
          </a:p>
        </p:txBody>
      </p:sp>
    </p:spTree>
    <p:extLst>
      <p:ext uri="{BB962C8B-B14F-4D97-AF65-F5344CB8AC3E}">
        <p14:creationId xmlns:p14="http://schemas.microsoft.com/office/powerpoint/2010/main" val="82745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3837DA-86A3-5FB7-2688-61324126A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VE" b="1" dirty="0">
                <a:solidFill>
                  <a:schemeClr val="tx1"/>
                </a:solidFill>
              </a:rPr>
              <a:t>Implementación del Software</a:t>
            </a:r>
            <a:br>
              <a:rPr lang="es-VE" b="1" dirty="0"/>
            </a:br>
            <a:endParaRPr lang="es-VE" dirty="0">
              <a:solidFill>
                <a:schemeClr val="tx1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1CBD2EF-8458-EC93-0485-4BAF2F3B5E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r>
              <a:rPr lang="es-VE" b="1" dirty="0"/>
              <a:t>Lenguaje:</a:t>
            </a:r>
            <a:r>
              <a:rPr lang="es-VE" dirty="0"/>
              <a:t> C++ utilizando la Standard </a:t>
            </a:r>
            <a:r>
              <a:rPr lang="es-VE" dirty="0" err="1"/>
              <a:t>Template</a:t>
            </a:r>
            <a:r>
              <a:rPr lang="es-VE" dirty="0"/>
              <a:t> Library (STL).</a:t>
            </a:r>
          </a:p>
          <a:p>
            <a:pPr>
              <a:buClr>
                <a:schemeClr val="tx1"/>
              </a:buClr>
            </a:pPr>
            <a:r>
              <a:rPr lang="es-VE" dirty="0"/>
              <a:t>Componentes Clave:</a:t>
            </a:r>
          </a:p>
          <a:p>
            <a:pPr lvl="1">
              <a:buClr>
                <a:schemeClr val="tx1"/>
              </a:buClr>
            </a:pPr>
            <a:r>
              <a:rPr lang="es-VE" b="1" dirty="0"/>
              <a:t>Clase “</a:t>
            </a:r>
            <a:r>
              <a:rPr lang="es-VE" b="1" dirty="0" err="1"/>
              <a:t>CacheSimulator</a:t>
            </a:r>
            <a:r>
              <a:rPr lang="es-VE" b="1" dirty="0"/>
              <a:t>”:</a:t>
            </a:r>
            <a:r>
              <a:rPr lang="es-VE" dirty="0"/>
              <a:t> </a:t>
            </a:r>
            <a:r>
              <a:rPr lang="es-ES" dirty="0"/>
              <a:t>Gestiona la lógica de acceso, estadísticas y configuración.</a:t>
            </a:r>
          </a:p>
          <a:p>
            <a:pPr lvl="1">
              <a:buClr>
                <a:schemeClr val="tx1"/>
              </a:buClr>
            </a:pPr>
            <a:r>
              <a:rPr lang="es-ES" b="1" dirty="0"/>
              <a:t>Estructura “</a:t>
            </a:r>
            <a:r>
              <a:rPr lang="es-ES" b="1" dirty="0" err="1"/>
              <a:t>Cacheline</a:t>
            </a:r>
            <a:r>
              <a:rPr lang="es-ES" b="1" dirty="0"/>
              <a:t>”:</a:t>
            </a:r>
            <a:r>
              <a:rPr lang="es-ES" dirty="0"/>
              <a:t> Almacena el bit de validez y la etiqueta (tag).</a:t>
            </a:r>
          </a:p>
          <a:p>
            <a:pPr lvl="1">
              <a:buClr>
                <a:schemeClr val="tx1"/>
              </a:buClr>
            </a:pPr>
            <a:r>
              <a:rPr lang="es-ES" b="1" dirty="0"/>
              <a:t>Política LRU: </a:t>
            </a:r>
            <a:r>
              <a:rPr lang="es-ES" dirty="0"/>
              <a:t>Implementada mediante una lista donde los elementos usados se mueven al frente.</a:t>
            </a:r>
          </a:p>
          <a:p>
            <a:pPr>
              <a:buClr>
                <a:schemeClr val="tx1"/>
              </a:buClr>
            </a:pPr>
            <a:r>
              <a:rPr lang="es-ES" b="1" dirty="0"/>
              <a:t>Direccionamiento:</a:t>
            </a:r>
            <a:r>
              <a:rPr lang="es-ES" dirty="0"/>
              <a:t> Uso de hexadecimal para facilitar la lectura y observar la alineación de bloques.</a:t>
            </a:r>
            <a:endParaRPr lang="es-VE" b="1" dirty="0"/>
          </a:p>
        </p:txBody>
      </p:sp>
    </p:spTree>
    <p:extLst>
      <p:ext uri="{BB962C8B-B14F-4D97-AF65-F5344CB8AC3E}">
        <p14:creationId xmlns:p14="http://schemas.microsoft.com/office/powerpoint/2010/main" val="31360752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2FB623-E4E1-51BC-D714-50852819F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VE" b="1" dirty="0">
                <a:solidFill>
                  <a:schemeClr val="tx1"/>
                </a:solidFill>
              </a:rPr>
              <a:t>Configuración Experimental</a:t>
            </a:r>
            <a:br>
              <a:rPr lang="es-VE" b="1" dirty="0"/>
            </a:br>
            <a:endParaRPr lang="es-V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2EFCF77-371C-530D-B5F4-3E79DAF18B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r>
              <a:rPr lang="es-VE" dirty="0"/>
              <a:t>Hardware Simulado:</a:t>
            </a:r>
          </a:p>
          <a:p>
            <a:pPr lvl="1">
              <a:buClr>
                <a:schemeClr val="tx1"/>
              </a:buClr>
            </a:pPr>
            <a:r>
              <a:rPr lang="es-ES" dirty="0"/>
              <a:t>Tamaño de caché: 1 KB</a:t>
            </a:r>
            <a:r>
              <a:rPr lang="es-VE" dirty="0"/>
              <a:t>.</a:t>
            </a:r>
          </a:p>
          <a:p>
            <a:pPr lvl="1">
              <a:buClr>
                <a:schemeClr val="tx1"/>
              </a:buClr>
            </a:pPr>
            <a:r>
              <a:rPr lang="es-ES" dirty="0"/>
              <a:t>Tamaño de bloque: 16 bytes.</a:t>
            </a:r>
          </a:p>
          <a:p>
            <a:pPr lvl="1">
              <a:buClr>
                <a:schemeClr val="tx1"/>
              </a:buClr>
            </a:pPr>
            <a:endParaRPr lang="es-VE" dirty="0"/>
          </a:p>
          <a:p>
            <a:pPr>
              <a:buClr>
                <a:schemeClr val="tx1"/>
              </a:buClr>
            </a:pPr>
            <a:r>
              <a:rPr lang="es-VE" dirty="0"/>
              <a:t>Patrones de Prueba Diseñados:</a:t>
            </a:r>
          </a:p>
          <a:p>
            <a:pPr lvl="1">
              <a:buClr>
                <a:schemeClr val="tx1"/>
              </a:buClr>
            </a:pPr>
            <a:r>
              <a:rPr lang="es-ES" b="1" dirty="0"/>
              <a:t>P1 (Localidad Espacial):</a:t>
            </a:r>
            <a:r>
              <a:rPr lang="es-ES" dirty="0"/>
              <a:t> Accesos secuenciales (0x000, 0x004...).</a:t>
            </a:r>
          </a:p>
          <a:p>
            <a:pPr lvl="1">
              <a:buClr>
                <a:schemeClr val="tx1"/>
              </a:buClr>
            </a:pPr>
            <a:r>
              <a:rPr lang="es-ES" b="1" dirty="0"/>
              <a:t>P2 (Conflicto):</a:t>
            </a:r>
            <a:r>
              <a:rPr lang="es-ES" dirty="0"/>
              <a:t> Direcciones que mapean al mismo índice (0x000, 0x400, 0x800...).</a:t>
            </a:r>
          </a:p>
          <a:p>
            <a:pPr lvl="1">
              <a:buClr>
                <a:schemeClr val="tx1"/>
              </a:buClr>
            </a:pPr>
            <a:r>
              <a:rPr lang="es-ES" b="1" dirty="0"/>
              <a:t>P3 (</a:t>
            </a:r>
            <a:r>
              <a:rPr lang="es-ES" b="1" dirty="0" err="1"/>
              <a:t>Reuso</a:t>
            </a:r>
            <a:r>
              <a:rPr lang="es-ES" b="1" dirty="0"/>
              <a:t>):</a:t>
            </a:r>
            <a:r>
              <a:rPr lang="es-ES" dirty="0"/>
              <a:t> Evaluación de localidad temporal y retención de datos.</a:t>
            </a:r>
            <a:endParaRPr lang="es-VE" dirty="0"/>
          </a:p>
        </p:txBody>
      </p:sp>
    </p:spTree>
    <p:extLst>
      <p:ext uri="{BB962C8B-B14F-4D97-AF65-F5344CB8AC3E}">
        <p14:creationId xmlns:p14="http://schemas.microsoft.com/office/powerpoint/2010/main" val="17103749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C35ED2-6D5B-98CA-BE30-5AF213872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VE" dirty="0">
                <a:solidFill>
                  <a:schemeClr val="tx1"/>
                </a:solidFill>
              </a:rPr>
              <a:t>Resultados: Localidad y </a:t>
            </a:r>
            <a:r>
              <a:rPr lang="es-VE" dirty="0" err="1">
                <a:solidFill>
                  <a:schemeClr val="tx1"/>
                </a:solidFill>
              </a:rPr>
              <a:t>Prefetching</a:t>
            </a:r>
            <a:endParaRPr lang="es-VE" dirty="0">
              <a:solidFill>
                <a:schemeClr val="tx1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5876AA8-19BF-47B7-5BCD-A502AC8B50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r>
              <a:rPr lang="es-VE" dirty="0"/>
              <a:t>Patrón 1 (Espacial):</a:t>
            </a:r>
          </a:p>
          <a:p>
            <a:pPr lvl="1">
              <a:buClr>
                <a:schemeClr val="tx1"/>
              </a:buClr>
            </a:pPr>
            <a:r>
              <a:rPr lang="es-ES" dirty="0"/>
              <a:t>Configuraciones estándar: </a:t>
            </a:r>
            <a:r>
              <a:rPr lang="es-ES" b="1" dirty="0"/>
              <a:t>75.00%</a:t>
            </a:r>
            <a:r>
              <a:rPr lang="es-ES" dirty="0"/>
              <a:t> de aciertos.</a:t>
            </a:r>
            <a:endParaRPr lang="es-VE" dirty="0"/>
          </a:p>
          <a:p>
            <a:pPr lvl="1">
              <a:buClr>
                <a:schemeClr val="tx1"/>
              </a:buClr>
            </a:pPr>
            <a:r>
              <a:rPr lang="it-IT" dirty="0"/>
              <a:t>Con </a:t>
            </a:r>
            <a:r>
              <a:rPr lang="it-IT" i="1" dirty="0"/>
              <a:t>Prefetching</a:t>
            </a:r>
            <a:r>
              <a:rPr lang="it-IT" dirty="0"/>
              <a:t>: Aumenta a </a:t>
            </a:r>
            <a:r>
              <a:rPr lang="it-IT" b="1" dirty="0"/>
              <a:t>91.67%</a:t>
            </a:r>
            <a:r>
              <a:rPr lang="it-IT" dirty="0"/>
              <a:t>.</a:t>
            </a:r>
          </a:p>
          <a:p>
            <a:pPr lvl="1">
              <a:buClr>
                <a:schemeClr val="tx1"/>
              </a:buClr>
            </a:pPr>
            <a:endParaRPr lang="es-VE" dirty="0"/>
          </a:p>
          <a:p>
            <a:pPr>
              <a:buClr>
                <a:schemeClr val="tx1"/>
              </a:buClr>
            </a:pPr>
            <a:r>
              <a:rPr lang="es-ES" b="1" dirty="0"/>
              <a:t>Análisis:</a:t>
            </a:r>
            <a:r>
              <a:rPr lang="es-ES" dirty="0"/>
              <a:t> El </a:t>
            </a:r>
            <a:r>
              <a:rPr lang="es-ES" i="1" dirty="0" err="1"/>
              <a:t>prefetching</a:t>
            </a:r>
            <a:r>
              <a:rPr lang="es-ES" dirty="0"/>
              <a:t> anticipa la carga del siguiente bloque, convirtiendo fallos obligatorios en aciertos, logrando una mejora del </a:t>
            </a:r>
            <a:r>
              <a:rPr lang="es-ES" b="1" dirty="0"/>
              <a:t>22.2%</a:t>
            </a:r>
            <a:r>
              <a:rPr lang="es-ES" dirty="0"/>
              <a:t>.</a:t>
            </a:r>
            <a:endParaRPr lang="es-VE" dirty="0"/>
          </a:p>
        </p:txBody>
      </p:sp>
    </p:spTree>
    <p:extLst>
      <p:ext uri="{BB962C8B-B14F-4D97-AF65-F5344CB8AC3E}">
        <p14:creationId xmlns:p14="http://schemas.microsoft.com/office/powerpoint/2010/main" val="4587352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5F915C-FB33-C3BB-9DF8-D21900D45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Resultados: Impacto de la Asociatividad</a:t>
            </a:r>
            <a:endParaRPr lang="es-VE" dirty="0">
              <a:solidFill>
                <a:schemeClr val="tx1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A47CFAA-A0A1-5C52-80EF-FB849348F9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r>
              <a:rPr lang="es-VE" dirty="0"/>
              <a:t>Patrón 2 (Conflicto):</a:t>
            </a:r>
          </a:p>
          <a:p>
            <a:pPr lvl="1">
              <a:buClr>
                <a:schemeClr val="tx1"/>
              </a:buClr>
            </a:pPr>
            <a:r>
              <a:rPr lang="es-VE" dirty="0"/>
              <a:t>Mapeo Directo: </a:t>
            </a:r>
            <a:r>
              <a:rPr lang="es-VE" b="1" dirty="0"/>
              <a:t>0.00%</a:t>
            </a:r>
            <a:r>
              <a:rPr lang="es-VE" dirty="0"/>
              <a:t> de aciertos (los bloques se expulsan continuamente).</a:t>
            </a:r>
          </a:p>
          <a:p>
            <a:pPr lvl="1">
              <a:buClr>
                <a:schemeClr val="tx1"/>
              </a:buClr>
            </a:pPr>
            <a:r>
              <a:rPr lang="es-ES" dirty="0"/>
              <a:t>Asociativo 4 vías: </a:t>
            </a:r>
            <a:r>
              <a:rPr lang="es-ES" b="1" dirty="0"/>
              <a:t>66.67%</a:t>
            </a:r>
            <a:r>
              <a:rPr lang="es-ES" dirty="0"/>
              <a:t> de aciertos.</a:t>
            </a:r>
          </a:p>
          <a:p>
            <a:pPr lvl="1">
              <a:buClr>
                <a:schemeClr val="tx1"/>
              </a:buClr>
            </a:pPr>
            <a:endParaRPr lang="es-VE" dirty="0"/>
          </a:p>
          <a:p>
            <a:pPr>
              <a:buClr>
                <a:schemeClr val="tx1"/>
              </a:buClr>
            </a:pPr>
            <a:r>
              <a:rPr lang="es-ES" b="1" dirty="0"/>
              <a:t>Análisis:</a:t>
            </a:r>
            <a:r>
              <a:rPr lang="es-ES" dirty="0"/>
              <a:t> La asociatividad permite que múltiples bloques coexistan en el mismo conjunto, eliminando fallos de conflicto críticos.</a:t>
            </a:r>
            <a:endParaRPr lang="es-VE" dirty="0"/>
          </a:p>
        </p:txBody>
      </p:sp>
    </p:spTree>
    <p:extLst>
      <p:ext uri="{BB962C8B-B14F-4D97-AF65-F5344CB8AC3E}">
        <p14:creationId xmlns:p14="http://schemas.microsoft.com/office/powerpoint/2010/main" val="6996852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901044-04F2-A977-3BAD-FABFF48AC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VE" dirty="0">
                <a:solidFill>
                  <a:schemeClr val="tx1"/>
                </a:solidFill>
              </a:rPr>
              <a:t>Conclusiones y Trabajo Futuro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A4802DE-5D68-5599-6FF3-F463BEA845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r>
              <a:rPr lang="es-VE" dirty="0"/>
              <a:t>Conclusiones:</a:t>
            </a:r>
          </a:p>
          <a:p>
            <a:pPr lvl="1">
              <a:buClr>
                <a:schemeClr val="tx1"/>
              </a:buClr>
            </a:pPr>
            <a:r>
              <a:rPr lang="es-ES" dirty="0"/>
              <a:t>La asociatividad es vital contra fallos de conflicto.</a:t>
            </a:r>
            <a:endParaRPr lang="es-VE" dirty="0"/>
          </a:p>
          <a:p>
            <a:pPr lvl="1">
              <a:buClr>
                <a:schemeClr val="tx1"/>
              </a:buClr>
            </a:pPr>
            <a:r>
              <a:rPr lang="es-ES" dirty="0"/>
              <a:t>El </a:t>
            </a:r>
            <a:r>
              <a:rPr lang="es-ES" i="1" dirty="0" err="1"/>
              <a:t>prefetching</a:t>
            </a:r>
            <a:r>
              <a:rPr lang="es-ES" dirty="0"/>
              <a:t> es excelente para flujos secuenciales pero ineficaz en accesos aleatorios.</a:t>
            </a:r>
            <a:endParaRPr lang="es-VE" dirty="0"/>
          </a:p>
          <a:p>
            <a:pPr lvl="1">
              <a:buClr>
                <a:schemeClr val="tx1"/>
              </a:buClr>
            </a:pPr>
            <a:r>
              <a:rPr lang="es-ES" dirty="0"/>
              <a:t>La elección de la arquitectura depende del patrón de uso de la aplicación.</a:t>
            </a:r>
            <a:endParaRPr lang="es-VE" dirty="0"/>
          </a:p>
          <a:p>
            <a:pPr lvl="1">
              <a:buClr>
                <a:schemeClr val="tx1"/>
              </a:buClr>
            </a:pPr>
            <a:endParaRPr lang="es-VE" dirty="0"/>
          </a:p>
          <a:p>
            <a:pPr>
              <a:buClr>
                <a:schemeClr val="tx1"/>
              </a:buClr>
            </a:pPr>
            <a:r>
              <a:rPr lang="es-VE" b="1" dirty="0"/>
              <a:t>Futuro:</a:t>
            </a:r>
            <a:r>
              <a:rPr lang="es-VE" dirty="0"/>
              <a:t> Implementar cachés multinivel (L1/L2/L3) y modelos de latencia para calcular el</a:t>
            </a:r>
            <a:r>
              <a:rPr lang="es-VE" b="1" dirty="0"/>
              <a:t> AMAT (Tiempo Medio de Acceso a Memoria).</a:t>
            </a:r>
          </a:p>
        </p:txBody>
      </p:sp>
    </p:spTree>
    <p:extLst>
      <p:ext uri="{BB962C8B-B14F-4D97-AF65-F5344CB8AC3E}">
        <p14:creationId xmlns:p14="http://schemas.microsoft.com/office/powerpoint/2010/main" val="242036484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28</TotalTime>
  <Words>705</Words>
  <Application>Microsoft Office PowerPoint</Application>
  <PresentationFormat>Panorámica</PresentationFormat>
  <Paragraphs>69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Trebuchet MS</vt:lpstr>
      <vt:lpstr>Wingdings 3</vt:lpstr>
      <vt:lpstr>Faceta</vt:lpstr>
      <vt:lpstr>Simulador de Cache Correspondencia directa y Asociativa por vías</vt:lpstr>
      <vt:lpstr>Introducción y Motivación</vt:lpstr>
      <vt:lpstr>Objetivos del Projecto</vt:lpstr>
      <vt:lpstr>Fundamentos Teóricos (I)</vt:lpstr>
      <vt:lpstr>Fundamentos Teóricos (II)</vt:lpstr>
      <vt:lpstr>Implementación del Software </vt:lpstr>
      <vt:lpstr>Configuración Experimental </vt:lpstr>
      <vt:lpstr>Resultados: Localidad y Prefetching</vt:lpstr>
      <vt:lpstr>Resultados: Impacto de la Asociatividad</vt:lpstr>
      <vt:lpstr>Conclusiones y Trabajo Futuro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Abraham Quintero</dc:creator>
  <cp:lastModifiedBy>Abraham Quintero</cp:lastModifiedBy>
  <cp:revision>1</cp:revision>
  <dcterms:created xsi:type="dcterms:W3CDTF">2026-04-05T00:14:41Z</dcterms:created>
  <dcterms:modified xsi:type="dcterms:W3CDTF">2026-04-05T00:42:47Z</dcterms:modified>
</cp:coreProperties>
</file>